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0FC55D-A885-4436-B4F6-4B9795152A13}">
          <p14:sldIdLst>
            <p14:sldId id="256"/>
          </p14:sldIdLst>
        </p14:section>
        <p14:section name="Customizing WorkSpace" id="{751B2063-7BAA-4347-85B6-F966C7529378}">
          <p14:sldIdLst>
            <p14:sldId id="257"/>
            <p14:sldId id="258"/>
            <p14:sldId id="259"/>
          </p14:sldIdLst>
        </p14:section>
        <p14:section name="AUTOFILL" id="{93486570-EEA8-4F09-B9F6-7AAA5B89D3B4}">
          <p14:sldIdLst>
            <p14:sldId id="260"/>
            <p14:sldId id="261"/>
          </p14:sldIdLst>
        </p14:section>
        <p14:section name="FUNCTIONS" id="{DB6E7FBE-6823-4DAF-A297-E854AD58CF08}">
          <p14:sldIdLst>
            <p14:sldId id="262"/>
          </p14:sldIdLst>
        </p14:section>
        <p14:section name="FORMATTING" id="{57C71AB8-62B0-46FA-9F34-8FE03BDF9CC8}">
          <p14:sldIdLst>
            <p14:sldId id="263"/>
            <p14:sldId id="264"/>
          </p14:sldIdLst>
        </p14:section>
        <p14:section name="LAYOUT AND ORIENTATION" id="{C347AF13-1860-48F5-8ECE-CCF649EA9D00}">
          <p14:sldIdLst>
            <p14:sldId id="265"/>
            <p14:sldId id="266"/>
            <p14:sldId id="267"/>
            <p14:sldId id="268"/>
            <p14:sldId id="270"/>
            <p14:sldId id="269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CE44-7975-9A4A-BED9-D814071C4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MICROSOFT EXCEL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AEF80-AA79-F7BB-18EB-9E97C6DFA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MIA-ADELEKE UNIVERSITY</a:t>
            </a:r>
          </a:p>
        </p:txBody>
      </p:sp>
    </p:spTree>
    <p:extLst>
      <p:ext uri="{BB962C8B-B14F-4D97-AF65-F5344CB8AC3E}">
        <p14:creationId xmlns:p14="http://schemas.microsoft.com/office/powerpoint/2010/main" val="45860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4389-5B06-9373-6DE0-DABB9C72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10197248" cy="561697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CUSTOMIZING WORK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2BCAC-2676-A139-BF89-BD25609F63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3" y="1180214"/>
            <a:ext cx="10643817" cy="5454502"/>
          </a:xfrm>
        </p:spPr>
        <p:txBody>
          <a:bodyPr/>
          <a:lstStyle/>
          <a:p>
            <a:r>
              <a:rPr lang="en-US" cap="none" dirty="0"/>
              <a:t>Customize The Quick Access Toolbar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0DB67-45D8-B5FC-2AE2-AF8F66322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3" y="2696002"/>
            <a:ext cx="7334627" cy="1759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2A8E55-3B7A-C577-9956-20CEAC6A3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801" y="1180000"/>
            <a:ext cx="2730640" cy="545493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2DF355-4249-3684-2996-35C8D802486C}"/>
              </a:ext>
            </a:extLst>
          </p:cNvPr>
          <p:cNvSpPr/>
          <p:nvPr/>
        </p:nvSpPr>
        <p:spPr>
          <a:xfrm>
            <a:off x="970259" y="3179135"/>
            <a:ext cx="552893" cy="3402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24C12-9F1C-4DA6-B6EE-7ECE8E461CC1}"/>
              </a:ext>
            </a:extLst>
          </p:cNvPr>
          <p:cNvSpPr/>
          <p:nvPr/>
        </p:nvSpPr>
        <p:spPr>
          <a:xfrm>
            <a:off x="9065180" y="6124460"/>
            <a:ext cx="552893" cy="3402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3E849B-0D52-0098-15E1-C5A6468CDA75}"/>
              </a:ext>
            </a:extLst>
          </p:cNvPr>
          <p:cNvSpPr/>
          <p:nvPr/>
        </p:nvSpPr>
        <p:spPr>
          <a:xfrm>
            <a:off x="10265310" y="6069362"/>
            <a:ext cx="718123" cy="3402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B20F7C-1011-2ECF-C959-F97D5E32902B}"/>
              </a:ext>
            </a:extLst>
          </p:cNvPr>
          <p:cNvCxnSpPr>
            <a:stCxn id="8" idx="2"/>
            <a:endCxn id="9" idx="1"/>
          </p:cNvCxnSpPr>
          <p:nvPr/>
        </p:nvCxnSpPr>
        <p:spPr>
          <a:xfrm>
            <a:off x="1246706" y="3519377"/>
            <a:ext cx="7818474" cy="27752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6CDCF6-C149-6969-3B50-B39DB176F6A8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9618073" y="6239483"/>
            <a:ext cx="647237" cy="550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F2E3D9E-7DA2-A3DA-EE06-1979F075A413}"/>
              </a:ext>
            </a:extLst>
          </p:cNvPr>
          <p:cNvSpPr txBox="1"/>
          <p:nvPr/>
        </p:nvSpPr>
        <p:spPr>
          <a:xfrm>
            <a:off x="1246706" y="1881963"/>
            <a:ext cx="690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         More        	Options          Quick Access </a:t>
            </a:r>
            <a:r>
              <a:rPr lang="en-US" dirty="0" err="1"/>
              <a:t>ToolBox</a:t>
            </a:r>
            <a:r>
              <a:rPr lang="en-US" dirty="0"/>
              <a:t>     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0B5E24-5DF8-2DF9-81FD-2F8F196A3517}"/>
              </a:ext>
            </a:extLst>
          </p:cNvPr>
          <p:cNvCxnSpPr/>
          <p:nvPr/>
        </p:nvCxnSpPr>
        <p:spPr>
          <a:xfrm>
            <a:off x="1733107" y="2083983"/>
            <a:ext cx="46783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4400D4-E11A-0516-D59E-04EEA6D2494D}"/>
              </a:ext>
            </a:extLst>
          </p:cNvPr>
          <p:cNvCxnSpPr/>
          <p:nvPr/>
        </p:nvCxnSpPr>
        <p:spPr>
          <a:xfrm>
            <a:off x="2948763" y="2083983"/>
            <a:ext cx="46783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9559221-C798-7639-AB30-071A6B6050DA}"/>
              </a:ext>
            </a:extLst>
          </p:cNvPr>
          <p:cNvCxnSpPr/>
          <p:nvPr/>
        </p:nvCxnSpPr>
        <p:spPr>
          <a:xfrm>
            <a:off x="4387702" y="2083983"/>
            <a:ext cx="46783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70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6F0D1-E637-78C4-0C39-D0A09F9FF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284" y="342512"/>
            <a:ext cx="7733248" cy="61729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7D409-069A-FB67-6EC6-8BEE4CFBD58E}"/>
              </a:ext>
            </a:extLst>
          </p:cNvPr>
          <p:cNvSpPr/>
          <p:nvPr/>
        </p:nvSpPr>
        <p:spPr>
          <a:xfrm>
            <a:off x="2509284" y="2987749"/>
            <a:ext cx="1329069" cy="3296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6F9E6C-C944-31E4-B10A-4BEC5A1B6766}"/>
              </a:ext>
            </a:extLst>
          </p:cNvPr>
          <p:cNvSpPr/>
          <p:nvPr/>
        </p:nvSpPr>
        <p:spPr>
          <a:xfrm>
            <a:off x="6574465" y="3473302"/>
            <a:ext cx="772633" cy="545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5D9FF-3025-C9D7-173D-956A3F31264D}"/>
              </a:ext>
            </a:extLst>
          </p:cNvPr>
          <p:cNvSpPr/>
          <p:nvPr/>
        </p:nvSpPr>
        <p:spPr>
          <a:xfrm>
            <a:off x="9767777" y="3473302"/>
            <a:ext cx="365051" cy="545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8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CA5BA-D4BD-E1FB-3E38-0FF11FBAFE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0726" y="669852"/>
            <a:ext cx="10256874" cy="5121348"/>
          </a:xfrm>
        </p:spPr>
        <p:txBody>
          <a:bodyPr/>
          <a:lstStyle/>
          <a:p>
            <a:r>
              <a:rPr lang="en-US" cap="none" dirty="0"/>
              <a:t>Insert And Remove Hyperlinks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614937-ABFB-72A1-72BC-75F1C147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23" y="1720371"/>
            <a:ext cx="11741753" cy="1397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B394B4-9047-D788-0CA9-A19D6902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23" y="3488196"/>
            <a:ext cx="6521785" cy="33148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727B61-7C0E-08AA-DC6B-B917367F81D9}"/>
              </a:ext>
            </a:extLst>
          </p:cNvPr>
          <p:cNvSpPr/>
          <p:nvPr/>
        </p:nvSpPr>
        <p:spPr>
          <a:xfrm>
            <a:off x="1180214" y="1720371"/>
            <a:ext cx="563526" cy="2998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63D1F4-257C-E0B5-BD07-8FAE1F2ABC82}"/>
              </a:ext>
            </a:extLst>
          </p:cNvPr>
          <p:cNvSpPr/>
          <p:nvPr/>
        </p:nvSpPr>
        <p:spPr>
          <a:xfrm>
            <a:off x="9519684" y="2022678"/>
            <a:ext cx="563526" cy="7417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3E2C4D-FB74-FB3E-DB6D-7953D1F2759A}"/>
              </a:ext>
            </a:extLst>
          </p:cNvPr>
          <p:cNvSpPr/>
          <p:nvPr/>
        </p:nvSpPr>
        <p:spPr>
          <a:xfrm>
            <a:off x="1180213" y="4167962"/>
            <a:ext cx="4625163" cy="4678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3CE586-8912-6D14-1707-2D615106AE08}"/>
              </a:ext>
            </a:extLst>
          </p:cNvPr>
          <p:cNvSpPr/>
          <p:nvPr/>
        </p:nvSpPr>
        <p:spPr>
          <a:xfrm>
            <a:off x="5805376" y="6028660"/>
            <a:ext cx="941532" cy="3402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D619F1-5EBD-1841-731B-5872DF2542DD}"/>
              </a:ext>
            </a:extLst>
          </p:cNvPr>
          <p:cNvCxnSpPr>
            <a:stCxn id="10" idx="2"/>
            <a:endCxn id="11" idx="1"/>
          </p:cNvCxnSpPr>
          <p:nvPr/>
        </p:nvCxnSpPr>
        <p:spPr>
          <a:xfrm>
            <a:off x="1461977" y="2020186"/>
            <a:ext cx="8057707" cy="3733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03023E-F795-B3E6-3C6B-5DC28FFB53A0}"/>
              </a:ext>
            </a:extLst>
          </p:cNvPr>
          <p:cNvCxnSpPr>
            <a:cxnSpLocks/>
            <a:stCxn id="11" idx="1"/>
            <a:endCxn id="12" idx="0"/>
          </p:cNvCxnSpPr>
          <p:nvPr/>
        </p:nvCxnSpPr>
        <p:spPr>
          <a:xfrm flipH="1">
            <a:off x="3492795" y="2393572"/>
            <a:ext cx="6026889" cy="17743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CD42EFD-B6DD-181B-B541-A0E38D59625B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492795" y="4635795"/>
            <a:ext cx="2783347" cy="13928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B78BD40-9AF9-BA37-EB85-64337C57331E}"/>
              </a:ext>
            </a:extLst>
          </p:cNvPr>
          <p:cNvSpPr txBox="1"/>
          <p:nvPr/>
        </p:nvSpPr>
        <p:spPr>
          <a:xfrm>
            <a:off x="1180213" y="1238167"/>
            <a:ext cx="833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                  Link                     Remove Link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0FCFA1-FEA8-AF21-B91E-278FDBF0499F}"/>
              </a:ext>
            </a:extLst>
          </p:cNvPr>
          <p:cNvCxnSpPr/>
          <p:nvPr/>
        </p:nvCxnSpPr>
        <p:spPr>
          <a:xfrm>
            <a:off x="1828800" y="1424763"/>
            <a:ext cx="103135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B39F62-C2F5-6800-1308-DAD59FBB8B35}"/>
              </a:ext>
            </a:extLst>
          </p:cNvPr>
          <p:cNvCxnSpPr/>
          <p:nvPr/>
        </p:nvCxnSpPr>
        <p:spPr>
          <a:xfrm>
            <a:off x="3492795" y="1424763"/>
            <a:ext cx="103135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623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7A56-1633-DA93-0945-739EE749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9984597" cy="448284"/>
          </a:xfrm>
        </p:spPr>
        <p:txBody>
          <a:bodyPr>
            <a:normAutofit fontScale="90000"/>
          </a:bodyPr>
          <a:lstStyle/>
          <a:p>
            <a:r>
              <a:rPr lang="en-US" dirty="0"/>
              <a:t>AUTOFILL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3B5F0-7A68-1189-D0A0-8818F383AF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90848"/>
            <a:ext cx="10363826" cy="4600352"/>
          </a:xfrm>
        </p:spPr>
        <p:txBody>
          <a:bodyPr/>
          <a:lstStyle/>
          <a:p>
            <a:r>
              <a:rPr lang="en-US" cap="none" dirty="0"/>
              <a:t>Fill Cells By Using Auto Fill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F64D64-CC2A-5A81-D52E-84CBEBDF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52" y="1690577"/>
            <a:ext cx="7430870" cy="5087083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F9E57C43-9AD9-092F-FF4E-0B100C45E0E5}"/>
              </a:ext>
            </a:extLst>
          </p:cNvPr>
          <p:cNvSpPr/>
          <p:nvPr/>
        </p:nvSpPr>
        <p:spPr>
          <a:xfrm>
            <a:off x="3274828" y="2838892"/>
            <a:ext cx="616688" cy="1924493"/>
          </a:xfrm>
          <a:prstGeom prst="rightBrac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9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FA76-D99F-68E7-2FF9-CD05D269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207881" cy="448284"/>
          </a:xfrm>
        </p:spPr>
        <p:txBody>
          <a:bodyPr>
            <a:normAutofit fontScale="90000"/>
          </a:bodyPr>
          <a:lstStyle/>
          <a:p>
            <a:r>
              <a:rPr lang="en-US" dirty="0"/>
              <a:t>CELL REFERENCING AND AUTOFILL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52B2-F0D2-AC52-B455-83FCA08205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9718" y="1286540"/>
            <a:ext cx="10207881" cy="4504659"/>
          </a:xfrm>
        </p:spPr>
        <p:txBody>
          <a:bodyPr/>
          <a:lstStyle/>
          <a:p>
            <a:r>
              <a:rPr lang="en-US" cap="none" dirty="0"/>
              <a:t>Type Of Cell </a:t>
            </a:r>
            <a:r>
              <a:rPr lang="en-US" cap="none" dirty="0" err="1"/>
              <a:t>Refereces</a:t>
            </a:r>
            <a:endParaRPr lang="en-US" cap="none" dirty="0"/>
          </a:p>
          <a:p>
            <a:pPr marL="514350" indent="-514350">
              <a:buFont typeface="+mj-lt"/>
              <a:buAutoNum type="romanLcPeriod"/>
            </a:pPr>
            <a:r>
              <a:rPr lang="en-US" cap="none" dirty="0"/>
              <a:t>Relative Reference: Changes when copied. Example D2</a:t>
            </a:r>
          </a:p>
          <a:p>
            <a:pPr marL="514350" indent="-514350">
              <a:buFont typeface="+mj-lt"/>
              <a:buAutoNum type="romanLcPeriod"/>
            </a:pPr>
            <a:r>
              <a:rPr lang="en-US" cap="none" dirty="0"/>
              <a:t>Absolute Reference: does not change when copied. Example: $D$2</a:t>
            </a:r>
          </a:p>
          <a:p>
            <a:pPr marL="514350" indent="-514350">
              <a:buFont typeface="+mj-lt"/>
              <a:buAutoNum type="romanLcPeriod"/>
            </a:pPr>
            <a:r>
              <a:rPr lang="en-US" cap="none" dirty="0"/>
              <a:t>Mixed Reference: part fixed, part changes Example: $D2 or D$11</a:t>
            </a:r>
          </a:p>
        </p:txBody>
      </p:sp>
    </p:spTree>
    <p:extLst>
      <p:ext uri="{BB962C8B-B14F-4D97-AF65-F5344CB8AC3E}">
        <p14:creationId xmlns:p14="http://schemas.microsoft.com/office/powerpoint/2010/main" val="2388266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E06D-A82F-C6A2-A589-BDC5E5DF5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250411" cy="448284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1A37B-070B-0EA4-7DC6-3C7371C039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30732" y="1218776"/>
            <a:ext cx="10363826" cy="3424107"/>
          </a:xfrm>
        </p:spPr>
        <p:txBody>
          <a:bodyPr/>
          <a:lstStyle/>
          <a:p>
            <a:r>
              <a:rPr lang="en-US" dirty="0"/>
              <a:t>SUM</a:t>
            </a:r>
          </a:p>
          <a:p>
            <a:r>
              <a:rPr lang="en-US" dirty="0"/>
              <a:t>AVERAGE</a:t>
            </a:r>
          </a:p>
          <a:p>
            <a:r>
              <a:rPr lang="en-US" dirty="0"/>
              <a:t>MIN</a:t>
            </a:r>
          </a:p>
          <a:p>
            <a:r>
              <a:rPr lang="en-US" dirty="0"/>
              <a:t>MAX </a:t>
            </a:r>
            <a:r>
              <a:rPr lang="en-US" cap="none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56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422E-0EB4-6FB0-24E9-DFCF7E0A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45" y="352704"/>
            <a:ext cx="10282309" cy="448284"/>
          </a:xfrm>
        </p:spPr>
        <p:txBody>
          <a:bodyPr>
            <a:normAutofit fontScale="90000"/>
          </a:bodyPr>
          <a:lstStyle/>
          <a:p>
            <a:r>
              <a:rPr lang="en-US" dirty="0"/>
              <a:t>NUMBER FORMATING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6073E-FDB7-9008-A06E-58D548F802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54845" y="889166"/>
            <a:ext cx="10363826" cy="3424107"/>
          </a:xfrm>
        </p:spPr>
        <p:txBody>
          <a:bodyPr/>
          <a:lstStyle/>
          <a:p>
            <a:r>
              <a:rPr lang="en-US" cap="none" dirty="0"/>
              <a:t>Home         Number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426B40-D05E-ACDB-824B-C0A33F6BB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47" y="1605516"/>
            <a:ext cx="7207156" cy="52524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C8A043-E047-68EE-2184-5524FE992D3E}"/>
              </a:ext>
            </a:extLst>
          </p:cNvPr>
          <p:cNvSpPr/>
          <p:nvPr/>
        </p:nvSpPr>
        <p:spPr>
          <a:xfrm>
            <a:off x="3912781" y="1648047"/>
            <a:ext cx="467833" cy="244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EF6E0F-7186-E153-7E02-55435B63E016}"/>
              </a:ext>
            </a:extLst>
          </p:cNvPr>
          <p:cNvSpPr/>
          <p:nvPr/>
        </p:nvSpPr>
        <p:spPr>
          <a:xfrm>
            <a:off x="7091916" y="1892595"/>
            <a:ext cx="893135" cy="244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BA66A8-2D3C-D898-7215-FE5BDC27A9CF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4146698" y="1892595"/>
            <a:ext cx="2945218" cy="1222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FD22AA-5EE3-8336-BF79-DC0A1B5FC698}"/>
              </a:ext>
            </a:extLst>
          </p:cNvPr>
          <p:cNvCxnSpPr/>
          <p:nvPr/>
        </p:nvCxnSpPr>
        <p:spPr>
          <a:xfrm>
            <a:off x="1945758" y="1148316"/>
            <a:ext cx="4784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285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9F2B-6D42-2B27-F6B0-F0CEC1662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896" y="268712"/>
            <a:ext cx="10364451" cy="475567"/>
          </a:xfrm>
        </p:spPr>
        <p:txBody>
          <a:bodyPr>
            <a:normAutofit fontScale="90000"/>
          </a:bodyPr>
          <a:lstStyle/>
          <a:p>
            <a:r>
              <a:rPr lang="en-US" dirty="0"/>
              <a:t>CELL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CF3BA-271D-CEEC-60C2-E50CE9EC98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3896" y="889166"/>
            <a:ext cx="10363826" cy="652555"/>
          </a:xfrm>
        </p:spPr>
        <p:txBody>
          <a:bodyPr/>
          <a:lstStyle/>
          <a:p>
            <a:r>
              <a:rPr lang="en-US" cap="none" dirty="0"/>
              <a:t>Wrap Text Within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97F048-CBB1-2B1C-6A08-E76CBA741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051" y="1968646"/>
            <a:ext cx="8683860" cy="24970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D92D8B-B7EF-A2C4-6016-04A33D3194FF}"/>
              </a:ext>
            </a:extLst>
          </p:cNvPr>
          <p:cNvSpPr/>
          <p:nvPr/>
        </p:nvSpPr>
        <p:spPr>
          <a:xfrm>
            <a:off x="2296633" y="2009553"/>
            <a:ext cx="925032" cy="4997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63BC69-6699-18E8-8147-D63586C200C1}"/>
              </a:ext>
            </a:extLst>
          </p:cNvPr>
          <p:cNvSpPr/>
          <p:nvPr/>
        </p:nvSpPr>
        <p:spPr>
          <a:xfrm>
            <a:off x="7350643" y="2509284"/>
            <a:ext cx="613143" cy="4997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A0681D-0210-F1A7-40A1-13EE495D856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221665" y="2259419"/>
            <a:ext cx="4128978" cy="4997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781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DF03B-532F-7820-2020-79D2595E92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68956" y="804106"/>
            <a:ext cx="10363826" cy="3424107"/>
          </a:xfrm>
        </p:spPr>
        <p:txBody>
          <a:bodyPr/>
          <a:lstStyle/>
          <a:p>
            <a:r>
              <a:rPr lang="en-US" cap="none" dirty="0"/>
              <a:t>Modify Cell Alignment, Orientation, And Indentation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A4BBF-D76F-F4CE-486C-0A0B245EF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819" y="1828800"/>
            <a:ext cx="9913847" cy="48980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593FC3-A2AE-DF05-443B-C85C7C541B0F}"/>
              </a:ext>
            </a:extLst>
          </p:cNvPr>
          <p:cNvSpPr/>
          <p:nvPr/>
        </p:nvSpPr>
        <p:spPr>
          <a:xfrm>
            <a:off x="2573079" y="1828800"/>
            <a:ext cx="542261" cy="287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76BCC7-8D16-57BA-9D83-89AD6E6AD44C}"/>
              </a:ext>
            </a:extLst>
          </p:cNvPr>
          <p:cNvSpPr/>
          <p:nvPr/>
        </p:nvSpPr>
        <p:spPr>
          <a:xfrm>
            <a:off x="5553740" y="2445490"/>
            <a:ext cx="379228" cy="2567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312A7147-229F-D581-CC27-BC36D581EA5A}"/>
              </a:ext>
            </a:extLst>
          </p:cNvPr>
          <p:cNvSpPr/>
          <p:nvPr/>
        </p:nvSpPr>
        <p:spPr>
          <a:xfrm>
            <a:off x="5932968" y="2702230"/>
            <a:ext cx="499730" cy="4024634"/>
          </a:xfrm>
          <a:prstGeom prst="leftBrac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F15B58-A6B2-A874-76A3-B70837ED7A41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2844210" y="2115879"/>
            <a:ext cx="2709530" cy="4579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91E2D8-6E02-4A8B-5F4E-9B36D8948CFB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743354" y="2702230"/>
            <a:ext cx="189614" cy="20398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EA9C8F-05C6-6609-5E5A-5D82C5EABE38}"/>
              </a:ext>
            </a:extLst>
          </p:cNvPr>
          <p:cNvSpPr txBox="1"/>
          <p:nvPr/>
        </p:nvSpPr>
        <p:spPr>
          <a:xfrm>
            <a:off x="1446028" y="1222744"/>
            <a:ext cx="5762846" cy="379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                      Orientation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0FC960-37B9-A9EE-26D0-C6ED7BB1B4D6}"/>
              </a:ext>
            </a:extLst>
          </p:cNvPr>
          <p:cNvCxnSpPr/>
          <p:nvPr/>
        </p:nvCxnSpPr>
        <p:spPr>
          <a:xfrm>
            <a:off x="2115879" y="1424763"/>
            <a:ext cx="12971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173E834-1B5D-04D8-148B-02E1E33F9F22}"/>
              </a:ext>
            </a:extLst>
          </p:cNvPr>
          <p:cNvSpPr txBox="1"/>
          <p:nvPr/>
        </p:nvSpPr>
        <p:spPr>
          <a:xfrm>
            <a:off x="4274288" y="174447"/>
            <a:ext cx="5869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LAYOUT AND ORIENTATION</a:t>
            </a:r>
          </a:p>
        </p:txBody>
      </p:sp>
    </p:spTree>
    <p:extLst>
      <p:ext uri="{BB962C8B-B14F-4D97-AF65-F5344CB8AC3E}">
        <p14:creationId xmlns:p14="http://schemas.microsoft.com/office/powerpoint/2010/main" val="42162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BDF34-923C-6059-6DBF-E70064DA76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79588" y="570190"/>
            <a:ext cx="10363826" cy="631289"/>
          </a:xfrm>
        </p:spPr>
        <p:txBody>
          <a:bodyPr/>
          <a:lstStyle/>
          <a:p>
            <a:r>
              <a:rPr lang="en-US" cap="none" dirty="0"/>
              <a:t>Adjust Row Height And Column Width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79480-C653-D0E6-DC93-49A6E6744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342" y="1111504"/>
            <a:ext cx="8603658" cy="57464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647095-F019-0E8B-1B51-5CD09DCC94B6}"/>
              </a:ext>
            </a:extLst>
          </p:cNvPr>
          <p:cNvSpPr/>
          <p:nvPr/>
        </p:nvSpPr>
        <p:spPr>
          <a:xfrm>
            <a:off x="4008474" y="1095153"/>
            <a:ext cx="531628" cy="350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121420-0DCF-3E32-A2DB-50C6AAA6143D}"/>
              </a:ext>
            </a:extLst>
          </p:cNvPr>
          <p:cNvSpPr/>
          <p:nvPr/>
        </p:nvSpPr>
        <p:spPr>
          <a:xfrm>
            <a:off x="10349023" y="1885507"/>
            <a:ext cx="942754" cy="3260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83345D-EEAC-C1A0-7DF5-03818953AC0B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4274288" y="1446028"/>
            <a:ext cx="6074735" cy="6025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770E8FB-4D4F-8434-D752-A78AB738B81F}"/>
              </a:ext>
            </a:extLst>
          </p:cNvPr>
          <p:cNvSpPr txBox="1"/>
          <p:nvPr/>
        </p:nvSpPr>
        <p:spPr>
          <a:xfrm>
            <a:off x="925033" y="1201479"/>
            <a:ext cx="2406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               Format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881A17-E5DF-2DAA-76CD-301D888B0497}"/>
              </a:ext>
            </a:extLst>
          </p:cNvPr>
          <p:cNvCxnSpPr/>
          <p:nvPr/>
        </p:nvCxnSpPr>
        <p:spPr>
          <a:xfrm>
            <a:off x="1616149" y="1360964"/>
            <a:ext cx="80807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eft Brace 12">
            <a:extLst>
              <a:ext uri="{FF2B5EF4-FFF2-40B4-BE49-F238E27FC236}">
                <a16:creationId xmlns:a16="http://schemas.microsoft.com/office/drawing/2014/main" id="{3D0FD194-D69A-4276-041B-0499C3B1328E}"/>
              </a:ext>
            </a:extLst>
          </p:cNvPr>
          <p:cNvSpPr/>
          <p:nvPr/>
        </p:nvSpPr>
        <p:spPr>
          <a:xfrm>
            <a:off x="10111563" y="2211573"/>
            <a:ext cx="318977" cy="4646427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1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02014-F72E-0600-28D3-FDC5E749F1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64649" y="788987"/>
            <a:ext cx="10363826" cy="918368"/>
          </a:xfrm>
        </p:spPr>
        <p:txBody>
          <a:bodyPr/>
          <a:lstStyle/>
          <a:p>
            <a:r>
              <a:rPr lang="en-US" cap="none" dirty="0"/>
              <a:t>Insert And Delete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C7707-5349-557A-D5F9-0767D2954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355"/>
            <a:ext cx="12192000" cy="25753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D67F7E-F599-29FA-35DD-DC57CC51D474}"/>
              </a:ext>
            </a:extLst>
          </p:cNvPr>
          <p:cNvSpPr/>
          <p:nvPr/>
        </p:nvSpPr>
        <p:spPr>
          <a:xfrm>
            <a:off x="637953" y="1707355"/>
            <a:ext cx="744280" cy="4297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7438F-78EF-776F-2A5F-E7C8D3E87E99}"/>
              </a:ext>
            </a:extLst>
          </p:cNvPr>
          <p:cNvSpPr/>
          <p:nvPr/>
        </p:nvSpPr>
        <p:spPr>
          <a:xfrm>
            <a:off x="9604743" y="2130055"/>
            <a:ext cx="1314893" cy="4297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05BB2B0-D2E2-985A-1590-A564D928C00C}"/>
              </a:ext>
            </a:extLst>
          </p:cNvPr>
          <p:cNvSpPr/>
          <p:nvPr/>
        </p:nvSpPr>
        <p:spPr>
          <a:xfrm>
            <a:off x="9494874" y="2615609"/>
            <a:ext cx="191386" cy="1552354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65464D-A63F-C4DF-88EE-2BB34071C39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382233" y="1922250"/>
            <a:ext cx="8222510" cy="422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FC7821-F308-18EC-9F25-FAB62F2AC384}"/>
              </a:ext>
            </a:extLst>
          </p:cNvPr>
          <p:cNvSpPr txBox="1"/>
          <p:nvPr/>
        </p:nvSpPr>
        <p:spPr>
          <a:xfrm>
            <a:off x="1562986" y="1190847"/>
            <a:ext cx="4051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                   Insert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9C47C3-75B3-7696-7771-FDE1DEA3C57F}"/>
              </a:ext>
            </a:extLst>
          </p:cNvPr>
          <p:cNvCxnSpPr/>
          <p:nvPr/>
        </p:nvCxnSpPr>
        <p:spPr>
          <a:xfrm>
            <a:off x="2243470" y="1371600"/>
            <a:ext cx="110578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166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CD47-3718-5F98-6037-0D1E5DE59C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0853" y="750945"/>
            <a:ext cx="10363826" cy="875838"/>
          </a:xfrm>
        </p:spPr>
        <p:txBody>
          <a:bodyPr/>
          <a:lstStyle/>
          <a:p>
            <a:r>
              <a:rPr lang="en-US" cap="none" dirty="0"/>
              <a:t>Merge And Unmerge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B90D0-89B2-4382-2200-ABAE811CA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88" y="1741980"/>
            <a:ext cx="9181623" cy="29912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C2E745-0EF4-B73C-5BAC-5F60EB2BF0C4}"/>
              </a:ext>
            </a:extLst>
          </p:cNvPr>
          <p:cNvSpPr/>
          <p:nvPr/>
        </p:nvSpPr>
        <p:spPr>
          <a:xfrm>
            <a:off x="2392326" y="1741980"/>
            <a:ext cx="1063255" cy="4802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5656B6-1BFA-769E-C951-42C318F83135}"/>
              </a:ext>
            </a:extLst>
          </p:cNvPr>
          <p:cNvSpPr/>
          <p:nvPr/>
        </p:nvSpPr>
        <p:spPr>
          <a:xfrm>
            <a:off x="7825563" y="2573079"/>
            <a:ext cx="886046" cy="428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29D740A-7451-CEE5-C3C3-8A27F7D6004C}"/>
              </a:ext>
            </a:extLst>
          </p:cNvPr>
          <p:cNvSpPr/>
          <p:nvPr/>
        </p:nvSpPr>
        <p:spPr>
          <a:xfrm>
            <a:off x="7644809" y="3009014"/>
            <a:ext cx="223284" cy="1626781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3A7B10-F74D-FE3D-F764-865C08C8A75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455581" y="1982093"/>
            <a:ext cx="4369982" cy="8054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667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96555-2C70-95F7-D18A-13CFE522F0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867902"/>
            <a:ext cx="10363826" cy="1290508"/>
          </a:xfrm>
        </p:spPr>
        <p:txBody>
          <a:bodyPr/>
          <a:lstStyle/>
          <a:p>
            <a:r>
              <a:rPr lang="en-US" cap="none" dirty="0"/>
              <a:t>Paste Data By Using Special Paste Options (Transpose)</a:t>
            </a:r>
          </a:p>
          <a:p>
            <a:r>
              <a:rPr lang="en-US" cap="none" dirty="0"/>
              <a:t>(Clipboard group) Home           Copy            Paste Transpose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99F1F-1BBA-D45C-21BF-A357B2D27B6E}"/>
              </a:ext>
            </a:extLst>
          </p:cNvPr>
          <p:cNvCxnSpPr/>
          <p:nvPr/>
        </p:nvCxnSpPr>
        <p:spPr>
          <a:xfrm>
            <a:off x="3742661" y="1626781"/>
            <a:ext cx="701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1821BDB-1B57-C89A-B52E-76A6E3B7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182" y="1837624"/>
            <a:ext cx="2219635" cy="502037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0583F6-2C31-3648-3923-C7E3D886E722}"/>
              </a:ext>
            </a:extLst>
          </p:cNvPr>
          <p:cNvCxnSpPr/>
          <p:nvPr/>
        </p:nvCxnSpPr>
        <p:spPr>
          <a:xfrm>
            <a:off x="5096540" y="1626781"/>
            <a:ext cx="7017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833BC1B-015C-E337-B9A1-65DB6BC008A6}"/>
              </a:ext>
            </a:extLst>
          </p:cNvPr>
          <p:cNvSpPr/>
          <p:nvPr/>
        </p:nvSpPr>
        <p:spPr>
          <a:xfrm>
            <a:off x="5603358" y="1837624"/>
            <a:ext cx="850605" cy="4483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C2FE1C-1009-8BFF-0E7B-C6EFC5EF7052}"/>
              </a:ext>
            </a:extLst>
          </p:cNvPr>
          <p:cNvSpPr/>
          <p:nvPr/>
        </p:nvSpPr>
        <p:spPr>
          <a:xfrm>
            <a:off x="5670696" y="2596504"/>
            <a:ext cx="666309" cy="4483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6B83E-9998-B686-635B-33961E4EE07C}"/>
              </a:ext>
            </a:extLst>
          </p:cNvPr>
          <p:cNvSpPr/>
          <p:nvPr/>
        </p:nvSpPr>
        <p:spPr>
          <a:xfrm>
            <a:off x="5096540" y="3044877"/>
            <a:ext cx="666309" cy="3841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5B0B4B-7E31-1276-7E9C-3AD572FDD991}"/>
              </a:ext>
            </a:extLst>
          </p:cNvPr>
          <p:cNvSpPr/>
          <p:nvPr/>
        </p:nvSpPr>
        <p:spPr>
          <a:xfrm>
            <a:off x="6003850" y="4252350"/>
            <a:ext cx="450113" cy="4472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38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5F07-3B6C-869F-B08C-812626DAB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14481"/>
            <a:ext cx="10364451" cy="448284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AFD30-FE66-E684-4286-FD4909584B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221" y="793474"/>
            <a:ext cx="10363826" cy="5745549"/>
          </a:xfrm>
        </p:spPr>
        <p:txBody>
          <a:bodyPr>
            <a:normAutofit/>
          </a:bodyPr>
          <a:lstStyle/>
          <a:p>
            <a:r>
              <a:rPr lang="en-US" dirty="0"/>
              <a:t>COUNT() : </a:t>
            </a:r>
            <a:r>
              <a:rPr lang="en-US" cap="none" dirty="0"/>
              <a:t>count the number of cells in a range that contains number</a:t>
            </a:r>
          </a:p>
          <a:p>
            <a:r>
              <a:rPr lang="en-US" dirty="0"/>
              <a:t>Counta() : </a:t>
            </a:r>
            <a:r>
              <a:rPr lang="en-US" cap="none" dirty="0"/>
              <a:t>count the number of cells in a range that are not empty</a:t>
            </a:r>
            <a:endParaRPr lang="en-US" dirty="0"/>
          </a:p>
          <a:p>
            <a:r>
              <a:rPr lang="en-US" dirty="0"/>
              <a:t>COUNTBLANK() : </a:t>
            </a:r>
            <a:r>
              <a:rPr lang="en-US" cap="none" dirty="0"/>
              <a:t>count the number of cells in a range that are empty</a:t>
            </a:r>
            <a:endParaRPr lang="en-US" dirty="0"/>
          </a:p>
          <a:p>
            <a:r>
              <a:rPr lang="en-US" dirty="0"/>
              <a:t>COUNTIF() : </a:t>
            </a:r>
            <a:r>
              <a:rPr lang="en-US" cap="none" dirty="0"/>
              <a:t>count the number of cells in a range that meet given condition (Conditional Function </a:t>
            </a:r>
            <a:r>
              <a:rPr lang="en-US" cap="none" dirty="0" err="1"/>
              <a:t>eg</a:t>
            </a:r>
            <a:r>
              <a:rPr lang="en-US" cap="none" dirty="0"/>
              <a:t> SUMIF() </a:t>
            </a:r>
          </a:p>
          <a:p>
            <a:r>
              <a:rPr lang="en-US" dirty="0"/>
              <a:t>CONCAT(), CONCATENATE()  and TEXTJOIN() </a:t>
            </a:r>
          </a:p>
          <a:p>
            <a:r>
              <a:rPr lang="en-US" dirty="0"/>
              <a:t>RIGHT() : </a:t>
            </a:r>
            <a:r>
              <a:rPr lang="en-US" cap="none" dirty="0"/>
              <a:t>return the specified number of a characters from the end of text (string)</a:t>
            </a:r>
          </a:p>
          <a:p>
            <a:r>
              <a:rPr lang="en-US" cap="none" dirty="0"/>
              <a:t>LEFT() : return the specified number of a character from the start of text string</a:t>
            </a:r>
          </a:p>
          <a:p>
            <a:r>
              <a:rPr lang="en-US" cap="none" dirty="0"/>
              <a:t>UPPER() : Converts a text string to all uppercase letter</a:t>
            </a:r>
          </a:p>
          <a:p>
            <a:r>
              <a:rPr lang="en-US" cap="none" dirty="0"/>
              <a:t>LOWER() : Converts a text string to all lower letter</a:t>
            </a:r>
          </a:p>
          <a:p>
            <a:r>
              <a:rPr lang="en-US" cap="none" dirty="0"/>
              <a:t>LEN() : Returns the number of characters in a text string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08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D39B-A9F1-8996-200A-930BC3B8C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DA12-3DAB-6DEF-EF6D-C4BED8461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14481"/>
            <a:ext cx="10364451" cy="448284"/>
          </a:xfrm>
        </p:spPr>
        <p:txBody>
          <a:bodyPr>
            <a:normAutofit fontScale="90000"/>
          </a:bodyPr>
          <a:lstStyle/>
          <a:p>
            <a:r>
              <a:rPr lang="en-US" dirty="0"/>
              <a:t>…FUNCTIONS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7F2C5-4E1B-7ADD-0EA9-C0473597CF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0221" y="793474"/>
            <a:ext cx="10363826" cy="5745549"/>
          </a:xfrm>
        </p:spPr>
        <p:txBody>
          <a:bodyPr>
            <a:normAutofit/>
          </a:bodyPr>
          <a:lstStyle/>
          <a:p>
            <a:r>
              <a:rPr lang="en-US" dirty="0"/>
              <a:t>COUNT() : </a:t>
            </a:r>
            <a:r>
              <a:rPr lang="en-US" cap="none" dirty="0"/>
              <a:t>count the number of cells in a range that contains number</a:t>
            </a:r>
          </a:p>
          <a:p>
            <a:r>
              <a:rPr lang="en-US" dirty="0"/>
              <a:t>Counta() : </a:t>
            </a:r>
            <a:r>
              <a:rPr lang="en-US" cap="none" dirty="0"/>
              <a:t>count the number of cells in a range that are not empty</a:t>
            </a:r>
            <a:endParaRPr lang="en-US" dirty="0"/>
          </a:p>
          <a:p>
            <a:r>
              <a:rPr lang="en-US" dirty="0"/>
              <a:t>COUNTBLANK() : </a:t>
            </a:r>
            <a:r>
              <a:rPr lang="en-US" cap="none" dirty="0"/>
              <a:t>count the number of cells in a range that are empty</a:t>
            </a:r>
            <a:endParaRPr lang="en-US" dirty="0"/>
          </a:p>
          <a:p>
            <a:r>
              <a:rPr lang="en-US" dirty="0"/>
              <a:t>COUNTIF() : </a:t>
            </a:r>
            <a:r>
              <a:rPr lang="en-US" cap="none" dirty="0"/>
              <a:t>count the number of cells in a range that meet given condition (Conditional Function </a:t>
            </a:r>
            <a:r>
              <a:rPr lang="en-US" cap="none" dirty="0" err="1"/>
              <a:t>eg</a:t>
            </a:r>
            <a:r>
              <a:rPr lang="en-US" cap="none" dirty="0"/>
              <a:t> SUMIF() </a:t>
            </a:r>
          </a:p>
          <a:p>
            <a:r>
              <a:rPr lang="en-US" dirty="0"/>
              <a:t>CONCAT(), CONCATENATE()  and TEXTJOIN() </a:t>
            </a:r>
          </a:p>
          <a:p>
            <a:r>
              <a:rPr lang="en-US" dirty="0"/>
              <a:t>RIGHT() : </a:t>
            </a:r>
            <a:r>
              <a:rPr lang="en-US" cap="none" dirty="0"/>
              <a:t>return the specified number of a characters from the end of text (string)</a:t>
            </a:r>
          </a:p>
          <a:p>
            <a:r>
              <a:rPr lang="en-US" cap="none" dirty="0"/>
              <a:t>LEFT() : return the specified number of a character from the start of text string</a:t>
            </a:r>
          </a:p>
          <a:p>
            <a:r>
              <a:rPr lang="en-US" cap="none" dirty="0"/>
              <a:t>UPPER() : Converts a text string to all uppercase letter</a:t>
            </a:r>
          </a:p>
          <a:p>
            <a:r>
              <a:rPr lang="en-US" cap="none" dirty="0"/>
              <a:t>LOWER() : Converts a text string to all lower letter</a:t>
            </a:r>
          </a:p>
          <a:p>
            <a:r>
              <a:rPr lang="en-US" cap="none" dirty="0"/>
              <a:t>LEN() : Returns the number of characters in a text string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417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A918-931D-6C3F-6641-E25A6863F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26" y="618518"/>
            <a:ext cx="10257500" cy="448284"/>
          </a:xfrm>
        </p:spPr>
        <p:txBody>
          <a:bodyPr>
            <a:normAutofit fontScale="90000"/>
          </a:bodyPr>
          <a:lstStyle/>
          <a:p>
            <a:r>
              <a:rPr lang="en-US" dirty="0"/>
              <a:t>CHART FORMATING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87F7-FCFF-05A2-235C-FC56406969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197511"/>
            <a:ext cx="10363826" cy="448285"/>
          </a:xfrm>
        </p:spPr>
        <p:txBody>
          <a:bodyPr/>
          <a:lstStyle/>
          <a:p>
            <a:r>
              <a:rPr lang="en-US" cap="none" dirty="0"/>
              <a:t>Inserting A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F3150-E57E-8EB4-5F12-74B915E51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0453"/>
            <a:ext cx="12192000" cy="18770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01C2AA-A5F3-83A7-C225-8109D2209359}"/>
              </a:ext>
            </a:extLst>
          </p:cNvPr>
          <p:cNvSpPr/>
          <p:nvPr/>
        </p:nvSpPr>
        <p:spPr>
          <a:xfrm>
            <a:off x="1446028" y="2573079"/>
            <a:ext cx="797442" cy="448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7105C2-A6EF-684F-7D46-16442B8B44D6}"/>
              </a:ext>
            </a:extLst>
          </p:cNvPr>
          <p:cNvSpPr/>
          <p:nvPr/>
        </p:nvSpPr>
        <p:spPr>
          <a:xfrm>
            <a:off x="5543107" y="2949621"/>
            <a:ext cx="4653516" cy="14179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629906-5813-58C4-49BB-7187E630E6F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243470" y="2797222"/>
            <a:ext cx="3299637" cy="8613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5159FD-038D-B015-41A3-21597E1E113A}"/>
              </a:ext>
            </a:extLst>
          </p:cNvPr>
          <p:cNvSpPr txBox="1"/>
          <p:nvPr/>
        </p:nvSpPr>
        <p:spPr>
          <a:xfrm>
            <a:off x="1233377" y="1776505"/>
            <a:ext cx="46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                Charts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8BD9B2-02AE-C8A1-AA49-A38AFAFC27BC}"/>
              </a:ext>
            </a:extLst>
          </p:cNvPr>
          <p:cNvCxnSpPr/>
          <p:nvPr/>
        </p:nvCxnSpPr>
        <p:spPr>
          <a:xfrm>
            <a:off x="1871330" y="1956391"/>
            <a:ext cx="94629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353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C99DF-9CD1-625D-540B-541F0E5206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79588" y="644619"/>
            <a:ext cx="10363826" cy="482434"/>
          </a:xfrm>
        </p:spPr>
        <p:txBody>
          <a:bodyPr/>
          <a:lstStyle/>
          <a:p>
            <a:r>
              <a:rPr lang="en-US" cap="none" dirty="0"/>
              <a:t>To Move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1A60C-114E-6AE6-66B2-E33B4794A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33574"/>
            <a:ext cx="8420986" cy="49792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7393F6-ECC0-60C1-3ABB-A7A1CF70200B}"/>
              </a:ext>
            </a:extLst>
          </p:cNvPr>
          <p:cNvSpPr/>
          <p:nvPr/>
        </p:nvSpPr>
        <p:spPr>
          <a:xfrm>
            <a:off x="3317358" y="1509823"/>
            <a:ext cx="1329070" cy="4824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A96240-6583-8629-0447-1CE14C92E490}"/>
              </a:ext>
            </a:extLst>
          </p:cNvPr>
          <p:cNvSpPr/>
          <p:nvPr/>
        </p:nvSpPr>
        <p:spPr>
          <a:xfrm>
            <a:off x="8934893" y="1921584"/>
            <a:ext cx="836428" cy="10767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805CD90-414E-EF6D-46B0-F8B212ACB322}"/>
              </a:ext>
            </a:extLst>
          </p:cNvPr>
          <p:cNvSpPr/>
          <p:nvPr/>
        </p:nvSpPr>
        <p:spPr>
          <a:xfrm rot="16200000">
            <a:off x="7080292" y="-34713"/>
            <a:ext cx="241216" cy="6438014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425839-691F-6BE8-8A6C-8F28D5A208F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646428" y="1751040"/>
            <a:ext cx="4288465" cy="7089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E581AB-CD8F-CC35-BB26-EB1EA99DE20F}"/>
              </a:ext>
            </a:extLst>
          </p:cNvPr>
          <p:cNvCxnSpPr>
            <a:cxnSpLocks/>
            <a:stCxn id="7" idx="1"/>
            <a:endCxn id="8" idx="1"/>
          </p:cNvCxnSpPr>
          <p:nvPr/>
        </p:nvCxnSpPr>
        <p:spPr>
          <a:xfrm flipH="1">
            <a:off x="7200900" y="2459983"/>
            <a:ext cx="1733993" cy="6037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4190AD-E157-E95D-0988-F490B2458DDE}"/>
              </a:ext>
            </a:extLst>
          </p:cNvPr>
          <p:cNvSpPr txBox="1"/>
          <p:nvPr/>
        </p:nvSpPr>
        <p:spPr>
          <a:xfrm>
            <a:off x="1499191" y="1042097"/>
            <a:ext cx="827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(Select Chart)             Chart Design                Move Chart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14DD98-4AEA-276E-3E83-9B795035D738}"/>
              </a:ext>
            </a:extLst>
          </p:cNvPr>
          <p:cNvCxnSpPr/>
          <p:nvPr/>
        </p:nvCxnSpPr>
        <p:spPr>
          <a:xfrm>
            <a:off x="2860158" y="1233377"/>
            <a:ext cx="723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451224-0D8A-94D7-28E8-A0011B6143C0}"/>
              </a:ext>
            </a:extLst>
          </p:cNvPr>
          <p:cNvCxnSpPr/>
          <p:nvPr/>
        </p:nvCxnSpPr>
        <p:spPr>
          <a:xfrm>
            <a:off x="4968948" y="1233377"/>
            <a:ext cx="72301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72291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605</TotalTime>
  <Words>447</Words>
  <Application>Microsoft Office PowerPoint</Application>
  <PresentationFormat>Widescreen</PresentationFormat>
  <Paragraphs>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Tw Cen MT</vt:lpstr>
      <vt:lpstr>Droplet</vt:lpstr>
      <vt:lpstr>MICROSOFT EXCEL 1</vt:lpstr>
      <vt:lpstr>CUSTOMIZING WORK SPACE</vt:lpstr>
      <vt:lpstr>PowerPoint Presentation</vt:lpstr>
      <vt:lpstr>PowerPoint Presentation</vt:lpstr>
      <vt:lpstr>AUTOFILL</vt:lpstr>
      <vt:lpstr>CELL REFERENCING AND AUTOFILL</vt:lpstr>
      <vt:lpstr>FUNCTIONS</vt:lpstr>
      <vt:lpstr>NUMBER FORMATING</vt:lpstr>
      <vt:lpstr>CELL FORMATTING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FUNCTIONS</vt:lpstr>
      <vt:lpstr>…FUNCTIONS</vt:lpstr>
      <vt:lpstr>CHART FORMATING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Laptop</dc:creator>
  <cp:lastModifiedBy>Office Laptop</cp:lastModifiedBy>
  <cp:revision>24</cp:revision>
  <dcterms:created xsi:type="dcterms:W3CDTF">2025-12-21T13:04:23Z</dcterms:created>
  <dcterms:modified xsi:type="dcterms:W3CDTF">2025-12-27T21:05:57Z</dcterms:modified>
</cp:coreProperties>
</file>